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Fraunces"/>
      <p:regular r:id="rId15"/>
      <p:bold r:id="rId16"/>
      <p:italic r:id="rId17"/>
      <p:boldItalic r:id="rId18"/>
    </p:embeddedFont>
    <p:embeddedFont>
      <p:font typeface="Epilogue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pilogue-bold.fntdata"/><Relationship Id="rId11" Type="http://schemas.openxmlformats.org/officeDocument/2006/relationships/slide" Target="slides/slide7.xml"/><Relationship Id="rId22" Type="http://schemas.openxmlformats.org/officeDocument/2006/relationships/font" Target="fonts/Epilogue-boldItalic.fntdata"/><Relationship Id="rId10" Type="http://schemas.openxmlformats.org/officeDocument/2006/relationships/slide" Target="slides/slide6.xml"/><Relationship Id="rId21" Type="http://schemas.openxmlformats.org/officeDocument/2006/relationships/font" Target="fonts/Epilogue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Fraunces-regular.fntdata"/><Relationship Id="rId14" Type="http://schemas.openxmlformats.org/officeDocument/2006/relationships/slide" Target="slides/slide10.xml"/><Relationship Id="rId17" Type="http://schemas.openxmlformats.org/officeDocument/2006/relationships/font" Target="fonts/Fraunces-italic.fntdata"/><Relationship Id="rId16" Type="http://schemas.openxmlformats.org/officeDocument/2006/relationships/font" Target="fonts/Fraunces-bold.fntdata"/><Relationship Id="rId5" Type="http://schemas.openxmlformats.org/officeDocument/2006/relationships/slide" Target="slides/slide1.xml"/><Relationship Id="rId19" Type="http://schemas.openxmlformats.org/officeDocument/2006/relationships/font" Target="fonts/Epilogue-regular.fntdata"/><Relationship Id="rId6" Type="http://schemas.openxmlformats.org/officeDocument/2006/relationships/slide" Target="slides/slide2.xml"/><Relationship Id="rId18" Type="http://schemas.openxmlformats.org/officeDocument/2006/relationships/font" Target="fonts/Fraunce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32.png"/><Relationship Id="rId7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Relationship Id="rId4" Type="http://schemas.openxmlformats.org/officeDocument/2006/relationships/image" Target="../media/image29.png"/><Relationship Id="rId5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793790" y="1796290"/>
            <a:ext cx="130428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Fraunces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Milestone 2: Data</a:t>
            </a:r>
            <a:r>
              <a:rPr lang="en-US" sz="4450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s</a:t>
            </a:r>
            <a:r>
              <a:rPr b="0" i="0" lang="en-US" sz="445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et Identification &amp; Preparation</a:t>
            </a:r>
            <a:endParaRPr b="0" i="0" sz="4450" u="none" cap="none" strike="noStrike"/>
          </a:p>
        </p:txBody>
      </p:sp>
      <p:sp>
        <p:nvSpPr>
          <p:cNvPr id="57" name="Google Shape;57;p13"/>
          <p:cNvSpPr/>
          <p:nvPr/>
        </p:nvSpPr>
        <p:spPr>
          <a:xfrm>
            <a:off x="981690" y="3233960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None/>
            </a:pPr>
            <a:r>
              <a:rPr b="1" i="0" lang="en-US" sz="25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Group 4</a:t>
            </a:r>
            <a:r>
              <a:rPr b="0" i="0" lang="en-US" sz="25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 | </a:t>
            </a:r>
            <a:r>
              <a:rPr b="1" i="0" lang="en-US" sz="25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Project:</a:t>
            </a:r>
            <a:r>
              <a:rPr b="0" i="0" lang="en-US" sz="25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 Action-Oriented Indoor Navigation Assistance for the Visually Impaired</a:t>
            </a:r>
            <a:endParaRPr b="0" i="0" sz="255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793790" y="4749076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None/>
            </a:pPr>
            <a:r>
              <a:rPr b="1" i="0" lang="en-US" sz="2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Goal:</a:t>
            </a:r>
            <a:r>
              <a:rPr b="0" i="0" lang="en-US" sz="2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 Identify and prepare datasets required for the perception and interaction modules of the navigation system.</a:t>
            </a:r>
            <a:endParaRPr b="0" i="0" sz="245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793790" y="6451442"/>
            <a:ext cx="130428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00"/>
              <a:buFont typeface="Epilogue"/>
              <a:buNone/>
            </a:pPr>
            <a:r>
              <a:rPr b="0" i="0" lang="en-US" sz="2000" u="sng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Presented By</a:t>
            </a:r>
            <a:r>
              <a:rPr b="0" i="0" lang="en-US" sz="20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: Samyuktha Shriram, Saransh Saini, Rohit Prajapat, Prasoon Shukla &amp; Divyang Panchasara</a:t>
            </a:r>
            <a:endParaRPr b="0" i="0" sz="2000" u="none" cap="none" strike="noStrike"/>
          </a:p>
        </p:txBody>
      </p:sp>
      <p:sp>
        <p:nvSpPr>
          <p:cNvPr id="60" name="Google Shape;60;p13"/>
          <p:cNvSpPr txBox="1"/>
          <p:nvPr/>
        </p:nvSpPr>
        <p:spPr>
          <a:xfrm>
            <a:off x="12705150" y="7617075"/>
            <a:ext cx="1803600" cy="61260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793790" y="1437918"/>
            <a:ext cx="1030569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Fraunces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System Modules &amp; Data Requirements</a:t>
            </a:r>
            <a:endParaRPr b="0" i="0" sz="4450" u="none" cap="none" strike="noStrike"/>
          </a:p>
        </p:txBody>
      </p:sp>
      <p:sp>
        <p:nvSpPr>
          <p:cNvPr id="67" name="Google Shape;67;p14"/>
          <p:cNvSpPr/>
          <p:nvPr/>
        </p:nvSpPr>
        <p:spPr>
          <a:xfrm>
            <a:off x="793790" y="2600325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Our navigation system consists of three major modules, each requiring specific datasets for training and evaluation.</a:t>
            </a:r>
            <a:endParaRPr b="0" i="0" sz="1750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793790" y="3218378"/>
            <a:ext cx="4196358" cy="2955250"/>
          </a:xfrm>
          <a:prstGeom prst="roundRect">
            <a:avLst>
              <a:gd fmla="val 3224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1028224" y="3452813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5390" y="3639860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/>
          <p:nvPr/>
        </p:nvSpPr>
        <p:spPr>
          <a:xfrm>
            <a:off x="1028224" y="436006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2200"/>
              <a:buFont typeface="Fraunces"/>
              <a:buNone/>
            </a:pPr>
            <a:r>
              <a:rPr b="0" i="0" lang="en-US" sz="220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Object Detection</a:t>
            </a:r>
            <a:endParaRPr b="0" i="0" sz="2200" u="none" cap="none" strike="noStrike"/>
          </a:p>
        </p:txBody>
      </p:sp>
      <p:sp>
        <p:nvSpPr>
          <p:cNvPr id="72" name="Google Shape;72;p14"/>
          <p:cNvSpPr/>
          <p:nvPr/>
        </p:nvSpPr>
        <p:spPr>
          <a:xfrm>
            <a:off x="1028224" y="4850487"/>
            <a:ext cx="372749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Detect indoor obstacles from RGB images using deep learning models</a:t>
            </a:r>
            <a:endParaRPr b="0" i="0" sz="175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5216962" y="3218378"/>
            <a:ext cx="4196358" cy="2955250"/>
          </a:xfrm>
          <a:prstGeom prst="roundRect">
            <a:avLst>
              <a:gd fmla="val 3224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5451396" y="3452813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8562" y="3639860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/>
          <p:nvPr/>
        </p:nvSpPr>
        <p:spPr>
          <a:xfrm>
            <a:off x="5451396" y="436006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2200"/>
              <a:buFont typeface="Fraunces"/>
              <a:buNone/>
            </a:pPr>
            <a:r>
              <a:rPr b="0" i="0" lang="en-US" sz="220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Depth Estimation</a:t>
            </a:r>
            <a:endParaRPr b="0" i="0" sz="2200" u="none" cap="none" strike="noStrike"/>
          </a:p>
        </p:txBody>
      </p:sp>
      <p:sp>
        <p:nvSpPr>
          <p:cNvPr id="77" name="Google Shape;77;p14"/>
          <p:cNvSpPr/>
          <p:nvPr/>
        </p:nvSpPr>
        <p:spPr>
          <a:xfrm>
            <a:off x="5451396" y="4850487"/>
            <a:ext cx="372749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Estimate distance to obstacles using monocular images and depth mapping</a:t>
            </a:r>
            <a:endParaRPr b="0" i="0" sz="1750" u="none" cap="none" strike="noStrike"/>
          </a:p>
        </p:txBody>
      </p:sp>
      <p:sp>
        <p:nvSpPr>
          <p:cNvPr id="78" name="Google Shape;78;p14"/>
          <p:cNvSpPr/>
          <p:nvPr/>
        </p:nvSpPr>
        <p:spPr>
          <a:xfrm>
            <a:off x="9640133" y="3218378"/>
            <a:ext cx="4196358" cy="2955250"/>
          </a:xfrm>
          <a:prstGeom prst="roundRect">
            <a:avLst>
              <a:gd fmla="val 3224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9874568" y="3452813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61734" y="3639860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/>
          <p:nvPr/>
        </p:nvSpPr>
        <p:spPr>
          <a:xfrm>
            <a:off x="9874568" y="436006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2200"/>
              <a:buFont typeface="Fraunces"/>
              <a:buNone/>
            </a:pPr>
            <a:r>
              <a:rPr b="0" i="0" lang="en-US" sz="220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Speech / TTS + LLM</a:t>
            </a:r>
            <a:endParaRPr b="0" i="0" sz="2200" u="none" cap="none" strike="noStrike"/>
          </a:p>
        </p:txBody>
      </p:sp>
      <p:sp>
        <p:nvSpPr>
          <p:cNvPr id="82" name="Google Shape;82;p14"/>
          <p:cNvSpPr/>
          <p:nvPr/>
        </p:nvSpPr>
        <p:spPr>
          <a:xfrm>
            <a:off x="9874568" y="4850487"/>
            <a:ext cx="372749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Convert navigation decisions into spoken instructions through audio feedback</a:t>
            </a:r>
            <a:endParaRPr b="0" i="0" sz="1750" u="none" cap="none" strike="noStrike"/>
          </a:p>
        </p:txBody>
      </p:sp>
      <p:sp>
        <p:nvSpPr>
          <p:cNvPr id="83" name="Google Shape;83;p14"/>
          <p:cNvSpPr/>
          <p:nvPr/>
        </p:nvSpPr>
        <p:spPr>
          <a:xfrm>
            <a:off x="793790" y="6843705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Milestone 2 focuses on </a:t>
            </a:r>
            <a:r>
              <a:rPr b="1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dataset selection, quality evaluation, and preprocessing</a:t>
            </a: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 for these three critical modules.</a:t>
            </a:r>
            <a:endParaRPr b="0" i="0" sz="1750" u="none" cap="none" strike="noStrike"/>
          </a:p>
        </p:txBody>
      </p:sp>
      <p:sp>
        <p:nvSpPr>
          <p:cNvPr id="84" name="Google Shape;84;p14"/>
          <p:cNvSpPr txBox="1"/>
          <p:nvPr/>
        </p:nvSpPr>
        <p:spPr>
          <a:xfrm>
            <a:off x="12705150" y="7617075"/>
            <a:ext cx="1803600" cy="61260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>
            <a:off x="793790" y="1322308"/>
            <a:ext cx="698742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Fraunces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Object Detection Datasets</a:t>
            </a:r>
            <a:endParaRPr b="0" i="0" sz="4450" u="none" cap="none" strike="noStrike"/>
          </a:p>
        </p:txBody>
      </p:sp>
      <p:sp>
        <p:nvSpPr>
          <p:cNvPr id="91" name="Google Shape;91;p15"/>
          <p:cNvSpPr/>
          <p:nvPr/>
        </p:nvSpPr>
        <p:spPr>
          <a:xfrm>
            <a:off x="793790" y="2598063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50"/>
              <a:buFont typeface="Fraunces"/>
              <a:buNone/>
            </a:pPr>
            <a:r>
              <a:rPr b="0" i="0" lang="en-US" sz="265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Large-Scale Datasets</a:t>
            </a:r>
            <a:endParaRPr b="0" i="0" sz="2650" u="none" cap="none" strike="noStrike"/>
          </a:p>
        </p:txBody>
      </p:sp>
      <p:sp>
        <p:nvSpPr>
          <p:cNvPr id="92" name="Google Shape;92;p15"/>
          <p:cNvSpPr/>
          <p:nvPr/>
        </p:nvSpPr>
        <p:spPr>
          <a:xfrm>
            <a:off x="793790" y="3250168"/>
            <a:ext cx="4205168" cy="1530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Char char="•"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MS COCO (~118k images) - comprehensive object categories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Char char="•"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Open Images (~9M images) - extensive labeled dataset</a:t>
            </a:r>
            <a:endParaRPr b="0" i="0" sz="1750" u="none" cap="none" strike="noStrike"/>
          </a:p>
        </p:txBody>
      </p:sp>
      <p:sp>
        <p:nvSpPr>
          <p:cNvPr id="93" name="Google Shape;93;p15"/>
          <p:cNvSpPr/>
          <p:nvPr/>
        </p:nvSpPr>
        <p:spPr>
          <a:xfrm>
            <a:off x="793790" y="5007888"/>
            <a:ext cx="4067413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50"/>
              <a:buFont typeface="Fraunces"/>
              <a:buNone/>
            </a:pPr>
            <a:r>
              <a:rPr b="0" i="0" lang="en-US" sz="265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Indoor-Focused Datasets</a:t>
            </a:r>
            <a:endParaRPr b="0" i="0" sz="2650" u="none" cap="none" strike="noStrike"/>
          </a:p>
        </p:txBody>
      </p:sp>
      <p:sp>
        <p:nvSpPr>
          <p:cNvPr id="94" name="Google Shape;94;p15"/>
          <p:cNvSpPr/>
          <p:nvPr/>
        </p:nvSpPr>
        <p:spPr>
          <a:xfrm>
            <a:off x="793790" y="5659993"/>
            <a:ext cx="4205168" cy="1168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Char char="•"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Indoor Object Dataset (Kaggle)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Char char="•"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Ultralytics YOLO datasets - optimized for real-time detection</a:t>
            </a:r>
            <a:endParaRPr b="0" i="0" sz="1750" u="none" cap="none" strike="noStrike"/>
          </a:p>
        </p:txBody>
      </p:sp>
      <p:sp>
        <p:nvSpPr>
          <p:cNvPr id="95" name="Google Shape;95;p15"/>
          <p:cNvSpPr/>
          <p:nvPr/>
        </p:nvSpPr>
        <p:spPr>
          <a:xfrm>
            <a:off x="5559981" y="3576161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50"/>
              <a:buFont typeface="Fraunces"/>
              <a:buNone/>
            </a:pPr>
            <a:r>
              <a:rPr b="0" i="0" lang="en-US" sz="265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Custom Dataset</a:t>
            </a:r>
            <a:endParaRPr b="0" i="0" sz="2650" u="none" cap="none" strike="noStrike"/>
          </a:p>
        </p:txBody>
      </p:sp>
      <p:sp>
        <p:nvSpPr>
          <p:cNvPr id="96" name="Google Shape;96;p15"/>
          <p:cNvSpPr/>
          <p:nvPr/>
        </p:nvSpPr>
        <p:spPr>
          <a:xfrm>
            <a:off x="5559981" y="4228267"/>
            <a:ext cx="828413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Indoor images collected in deployment environment</a:t>
            </a:r>
            <a:endParaRPr b="0" i="0" sz="1750" u="none" cap="none" strike="noStrike"/>
          </a:p>
        </p:txBody>
      </p:sp>
      <p:sp>
        <p:nvSpPr>
          <p:cNvPr id="97" name="Google Shape;97;p15"/>
          <p:cNvSpPr/>
          <p:nvPr/>
        </p:nvSpPr>
        <p:spPr>
          <a:xfrm>
            <a:off x="5559981" y="4795242"/>
            <a:ext cx="828413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None/>
            </a:pPr>
            <a:r>
              <a:rPr b="1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Target: 1,000–2,000 images</a:t>
            </a:r>
            <a:endParaRPr b="0" i="0" sz="1750" u="none" cap="none" strike="noStrike"/>
          </a:p>
        </p:txBody>
      </p:sp>
      <p:sp>
        <p:nvSpPr>
          <p:cNvPr id="98" name="Google Shape;98;p15"/>
          <p:cNvSpPr/>
          <p:nvPr/>
        </p:nvSpPr>
        <p:spPr>
          <a:xfrm>
            <a:off x="5559981" y="5362218"/>
            <a:ext cx="828413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None/>
            </a:pPr>
            <a:r>
              <a:rPr b="0" i="1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Purpose: Detect common indoor obstacles relevant to navigation</a:t>
            </a:r>
            <a:endParaRPr b="0" i="0" sz="1750" u="none" cap="none" strike="noStrike"/>
          </a:p>
        </p:txBody>
      </p:sp>
      <p:sp>
        <p:nvSpPr>
          <p:cNvPr id="99" name="Google Shape;99;p15"/>
          <p:cNvSpPr txBox="1"/>
          <p:nvPr/>
        </p:nvSpPr>
        <p:spPr>
          <a:xfrm>
            <a:off x="12705150" y="7617075"/>
            <a:ext cx="1803600" cy="61260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/>
          <p:nvPr/>
        </p:nvSpPr>
        <p:spPr>
          <a:xfrm>
            <a:off x="1045488" y="806410"/>
            <a:ext cx="8597146" cy="567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50"/>
              <a:buFont typeface="Fraunces"/>
              <a:buNone/>
            </a:pPr>
            <a:r>
              <a:rPr b="0" i="0" lang="en-US" sz="355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Object Detection Classes &amp; Data Quality</a:t>
            </a:r>
            <a:endParaRPr b="0" i="0" sz="3550" u="none" cap="none" strike="noStrike"/>
          </a:p>
        </p:txBody>
      </p:sp>
      <p:sp>
        <p:nvSpPr>
          <p:cNvPr id="106" name="Google Shape;106;p16"/>
          <p:cNvSpPr/>
          <p:nvPr/>
        </p:nvSpPr>
        <p:spPr>
          <a:xfrm>
            <a:off x="1045488" y="1665446"/>
            <a:ext cx="6196965" cy="1551027"/>
          </a:xfrm>
          <a:prstGeom prst="roundRect">
            <a:avLst>
              <a:gd fmla="val 4921" name="adj"/>
            </a:avLst>
          </a:prstGeom>
          <a:solidFill>
            <a:srgbClr val="080E26"/>
          </a:solidFill>
          <a:ln cap="flat" cmpd="sng" w="22850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1068348" y="1688306"/>
            <a:ext cx="6151245" cy="545187"/>
          </a:xfrm>
          <a:prstGeom prst="roundRect">
            <a:avLst>
              <a:gd fmla="val 8969" name="adj"/>
            </a:avLst>
          </a:prstGeom>
          <a:solidFill>
            <a:srgbClr val="283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7644" y="1820823"/>
            <a:ext cx="272534" cy="27253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/>
          <p:nvPr/>
        </p:nvSpPr>
        <p:spPr>
          <a:xfrm>
            <a:off x="1250037" y="2378988"/>
            <a:ext cx="2271593" cy="283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Fraunces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Furniture</a:t>
            </a:r>
            <a:endParaRPr b="0" i="0" sz="1750" u="none" cap="none" strike="noStrike"/>
          </a:p>
        </p:txBody>
      </p:sp>
      <p:sp>
        <p:nvSpPr>
          <p:cNvPr id="110" name="Google Shape;110;p16"/>
          <p:cNvSpPr/>
          <p:nvPr/>
        </p:nvSpPr>
        <p:spPr>
          <a:xfrm>
            <a:off x="1250037" y="2750225"/>
            <a:ext cx="5787866" cy="261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00"/>
              <a:buFont typeface="Epilogue"/>
              <a:buNone/>
            </a:pPr>
            <a:r>
              <a:rPr b="0" i="0" lang="en-US" sz="14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Chair, couch, bed, table, desk, cabinet</a:t>
            </a:r>
            <a:endParaRPr b="0" i="0" sz="1400" u="none" cap="none" strike="noStrike"/>
          </a:p>
        </p:txBody>
      </p:sp>
      <p:sp>
        <p:nvSpPr>
          <p:cNvPr id="111" name="Google Shape;111;p16"/>
          <p:cNvSpPr/>
          <p:nvPr/>
        </p:nvSpPr>
        <p:spPr>
          <a:xfrm>
            <a:off x="7387947" y="1665446"/>
            <a:ext cx="6196965" cy="1551027"/>
          </a:xfrm>
          <a:prstGeom prst="roundRect">
            <a:avLst>
              <a:gd fmla="val 4921" name="adj"/>
            </a:avLst>
          </a:prstGeom>
          <a:solidFill>
            <a:srgbClr val="080E26"/>
          </a:solidFill>
          <a:ln cap="flat" cmpd="sng" w="22850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7410807" y="1688306"/>
            <a:ext cx="6151245" cy="545187"/>
          </a:xfrm>
          <a:prstGeom prst="roundRect">
            <a:avLst>
              <a:gd fmla="val 8969" name="adj"/>
            </a:avLst>
          </a:prstGeom>
          <a:solidFill>
            <a:srgbClr val="283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50103" y="1820823"/>
            <a:ext cx="272534" cy="27253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/>
          <p:nvPr/>
        </p:nvSpPr>
        <p:spPr>
          <a:xfrm>
            <a:off x="7592497" y="2378988"/>
            <a:ext cx="2271593" cy="283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Fraunces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Navigation Elements</a:t>
            </a:r>
            <a:endParaRPr b="0" i="0" sz="1750" u="none" cap="none" strike="noStrike"/>
          </a:p>
        </p:txBody>
      </p:sp>
      <p:sp>
        <p:nvSpPr>
          <p:cNvPr id="115" name="Google Shape;115;p16"/>
          <p:cNvSpPr/>
          <p:nvPr/>
        </p:nvSpPr>
        <p:spPr>
          <a:xfrm>
            <a:off x="7592497" y="2750225"/>
            <a:ext cx="5787866" cy="261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00"/>
              <a:buFont typeface="Epilogue"/>
              <a:buNone/>
            </a:pPr>
            <a:r>
              <a:rPr b="0" i="0" lang="en-US" sz="14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Door, window, stairs, wall, floor</a:t>
            </a:r>
            <a:endParaRPr b="0" i="0" sz="1400" u="none" cap="none" strike="noStrike"/>
          </a:p>
        </p:txBody>
      </p:sp>
      <p:sp>
        <p:nvSpPr>
          <p:cNvPr id="116" name="Google Shape;116;p16"/>
          <p:cNvSpPr/>
          <p:nvPr/>
        </p:nvSpPr>
        <p:spPr>
          <a:xfrm>
            <a:off x="1045488" y="3361968"/>
            <a:ext cx="6196965" cy="1551027"/>
          </a:xfrm>
          <a:prstGeom prst="roundRect">
            <a:avLst>
              <a:gd fmla="val 4921" name="adj"/>
            </a:avLst>
          </a:prstGeom>
          <a:solidFill>
            <a:srgbClr val="080E26"/>
          </a:solidFill>
          <a:ln cap="flat" cmpd="sng" w="22850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1068348" y="3384828"/>
            <a:ext cx="6151245" cy="545187"/>
          </a:xfrm>
          <a:prstGeom prst="roundRect">
            <a:avLst>
              <a:gd fmla="val 8969" name="adj"/>
            </a:avLst>
          </a:prstGeom>
          <a:solidFill>
            <a:srgbClr val="283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07644" y="3517344"/>
            <a:ext cx="272534" cy="27253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/>
          <p:nvPr/>
        </p:nvSpPr>
        <p:spPr>
          <a:xfrm>
            <a:off x="1250037" y="4075509"/>
            <a:ext cx="2271593" cy="283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Fraunces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Appliances</a:t>
            </a:r>
            <a:endParaRPr b="0" i="0" sz="1750" u="none" cap="none" strike="noStrike"/>
          </a:p>
        </p:txBody>
      </p:sp>
      <p:sp>
        <p:nvSpPr>
          <p:cNvPr id="120" name="Google Shape;120;p16"/>
          <p:cNvSpPr/>
          <p:nvPr/>
        </p:nvSpPr>
        <p:spPr>
          <a:xfrm>
            <a:off x="1250037" y="4446746"/>
            <a:ext cx="5787866" cy="261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00"/>
              <a:buFont typeface="Epilogue"/>
              <a:buNone/>
            </a:pPr>
            <a:r>
              <a:rPr b="0" i="0" lang="en-US" sz="14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Refrigerator, microwave, oven</a:t>
            </a:r>
            <a:endParaRPr b="0" i="0" sz="1400" u="none" cap="none" strike="noStrike"/>
          </a:p>
        </p:txBody>
      </p:sp>
      <p:sp>
        <p:nvSpPr>
          <p:cNvPr id="121" name="Google Shape;121;p16"/>
          <p:cNvSpPr/>
          <p:nvPr/>
        </p:nvSpPr>
        <p:spPr>
          <a:xfrm>
            <a:off x="7387947" y="3361968"/>
            <a:ext cx="6196965" cy="1551027"/>
          </a:xfrm>
          <a:prstGeom prst="roundRect">
            <a:avLst>
              <a:gd fmla="val 4921" name="adj"/>
            </a:avLst>
          </a:prstGeom>
          <a:solidFill>
            <a:srgbClr val="080E26"/>
          </a:solidFill>
          <a:ln cap="flat" cmpd="sng" w="22850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7410807" y="3384828"/>
            <a:ext cx="6151245" cy="545187"/>
          </a:xfrm>
          <a:prstGeom prst="roundRect">
            <a:avLst>
              <a:gd fmla="val 8969" name="adj"/>
            </a:avLst>
          </a:prstGeom>
          <a:solidFill>
            <a:srgbClr val="283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50103" y="3517344"/>
            <a:ext cx="272534" cy="27253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7592497" y="4075509"/>
            <a:ext cx="2271593" cy="283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Fraunces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Other Objects</a:t>
            </a:r>
            <a:endParaRPr b="0" i="0" sz="1750" u="none" cap="none" strike="noStrike"/>
          </a:p>
        </p:txBody>
      </p:sp>
      <p:sp>
        <p:nvSpPr>
          <p:cNvPr id="125" name="Google Shape;125;p16"/>
          <p:cNvSpPr/>
          <p:nvPr/>
        </p:nvSpPr>
        <p:spPr>
          <a:xfrm>
            <a:off x="7592497" y="4446746"/>
            <a:ext cx="5787866" cy="261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00"/>
              <a:buFont typeface="Epilogue"/>
              <a:buNone/>
            </a:pPr>
            <a:r>
              <a:rPr b="0" i="0" lang="en-US" sz="14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Backpack, suitcase, bottle, plant</a:t>
            </a:r>
            <a:endParaRPr b="0" i="0" sz="1400" u="none" cap="none" strike="noStrike"/>
          </a:p>
        </p:txBody>
      </p:sp>
      <p:sp>
        <p:nvSpPr>
          <p:cNvPr id="126" name="Google Shape;126;p16"/>
          <p:cNvSpPr/>
          <p:nvPr/>
        </p:nvSpPr>
        <p:spPr>
          <a:xfrm>
            <a:off x="1045488" y="5131356"/>
            <a:ext cx="3504248" cy="340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Fraunces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Dataset Quality Challenges</a:t>
            </a:r>
            <a:endParaRPr b="0" i="0" sz="2100" u="none" cap="none" strike="noStrike"/>
          </a:p>
        </p:txBody>
      </p:sp>
      <p:sp>
        <p:nvSpPr>
          <p:cNvPr id="127" name="Google Shape;127;p16"/>
          <p:cNvSpPr/>
          <p:nvPr/>
        </p:nvSpPr>
        <p:spPr>
          <a:xfrm>
            <a:off x="1045488" y="5786973"/>
            <a:ext cx="90845" cy="90845"/>
          </a:xfrm>
          <a:prstGeom prst="roundRect">
            <a:avLst>
              <a:gd fmla="val 503275" name="adj"/>
            </a:avLst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1281827" y="5690473"/>
            <a:ext cx="2271593" cy="283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Fraunces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Image noise</a:t>
            </a:r>
            <a:endParaRPr b="0" i="0" sz="1750" u="none" cap="none" strike="noStrike"/>
          </a:p>
        </p:txBody>
      </p:sp>
      <p:sp>
        <p:nvSpPr>
          <p:cNvPr id="129" name="Google Shape;129;p16"/>
          <p:cNvSpPr/>
          <p:nvPr/>
        </p:nvSpPr>
        <p:spPr>
          <a:xfrm>
            <a:off x="1281827" y="6061710"/>
            <a:ext cx="3822144" cy="5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00"/>
              <a:buFont typeface="Epilogue"/>
              <a:buNone/>
            </a:pPr>
            <a:r>
              <a:rPr b="0" i="0" lang="en-US" sz="14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Blur, lighting variations, and camera artifacts</a:t>
            </a:r>
            <a:endParaRPr b="0" i="0" sz="1400" u="none" cap="none" strike="noStrike"/>
          </a:p>
        </p:txBody>
      </p:sp>
      <p:sp>
        <p:nvSpPr>
          <p:cNvPr id="130" name="Google Shape;130;p16"/>
          <p:cNvSpPr/>
          <p:nvPr/>
        </p:nvSpPr>
        <p:spPr>
          <a:xfrm>
            <a:off x="5285899" y="5786973"/>
            <a:ext cx="90845" cy="90845"/>
          </a:xfrm>
          <a:prstGeom prst="roundRect">
            <a:avLst>
              <a:gd fmla="val 503275" name="adj"/>
            </a:avLst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522238" y="5690473"/>
            <a:ext cx="2271593" cy="283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Fraunces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Class imbalance</a:t>
            </a:r>
            <a:endParaRPr b="0" i="0" sz="1750" u="none" cap="none" strike="noStrike"/>
          </a:p>
        </p:txBody>
      </p:sp>
      <p:sp>
        <p:nvSpPr>
          <p:cNvPr id="132" name="Google Shape;132;p16"/>
          <p:cNvSpPr/>
          <p:nvPr/>
        </p:nvSpPr>
        <p:spPr>
          <a:xfrm>
            <a:off x="5522238" y="6061710"/>
            <a:ext cx="3822144" cy="261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00"/>
              <a:buFont typeface="Epilogue"/>
              <a:buNone/>
            </a:pPr>
            <a:r>
              <a:rPr b="0" i="0" lang="en-US" sz="14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Uneven distribution of object categories</a:t>
            </a:r>
            <a:endParaRPr b="0" i="0" sz="1400" u="none" cap="none" strike="noStrike"/>
          </a:p>
        </p:txBody>
      </p:sp>
      <p:sp>
        <p:nvSpPr>
          <p:cNvPr id="133" name="Google Shape;133;p16"/>
          <p:cNvSpPr/>
          <p:nvPr/>
        </p:nvSpPr>
        <p:spPr>
          <a:xfrm>
            <a:off x="9526310" y="5786973"/>
            <a:ext cx="90845" cy="90845"/>
          </a:xfrm>
          <a:prstGeom prst="roundRect">
            <a:avLst>
              <a:gd fmla="val 503275" name="adj"/>
            </a:avLst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9762649" y="5690473"/>
            <a:ext cx="2271593" cy="283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Fraunces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Duplicate frames</a:t>
            </a:r>
            <a:endParaRPr b="0" i="0" sz="1750" u="none" cap="none" strike="noStrike"/>
          </a:p>
        </p:txBody>
      </p:sp>
      <p:sp>
        <p:nvSpPr>
          <p:cNvPr id="135" name="Google Shape;135;p16"/>
          <p:cNvSpPr/>
          <p:nvPr/>
        </p:nvSpPr>
        <p:spPr>
          <a:xfrm>
            <a:off x="9762649" y="6061710"/>
            <a:ext cx="3822144" cy="261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00"/>
              <a:buFont typeface="Epilogue"/>
              <a:buNone/>
            </a:pPr>
            <a:r>
              <a:rPr b="0" i="0" lang="en-US" sz="14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Redundant images in video datasets</a:t>
            </a:r>
            <a:endParaRPr b="0" i="0" sz="1400" u="none" cap="none" strike="noStrike"/>
          </a:p>
        </p:txBody>
      </p:sp>
      <p:sp>
        <p:nvSpPr>
          <p:cNvPr id="136" name="Google Shape;136;p16"/>
          <p:cNvSpPr/>
          <p:nvPr/>
        </p:nvSpPr>
        <p:spPr>
          <a:xfrm>
            <a:off x="1045488" y="6748820"/>
            <a:ext cx="12539424" cy="674370"/>
          </a:xfrm>
          <a:prstGeom prst="roundRect">
            <a:avLst>
              <a:gd fmla="val 11318" name="adj"/>
            </a:avLst>
          </a:prstGeom>
          <a:solidFill>
            <a:srgbClr val="181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27177" y="6992064"/>
            <a:ext cx="227052" cy="18168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/>
          <p:nvPr/>
        </p:nvSpPr>
        <p:spPr>
          <a:xfrm>
            <a:off x="1635919" y="6939677"/>
            <a:ext cx="11767304" cy="261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pilogue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Epilogue"/>
                <a:ea typeface="Epilogue"/>
                <a:cs typeface="Epilogue"/>
                <a:sym typeface="Epilogue"/>
              </a:rPr>
              <a:t>Mitigation:</a:t>
            </a:r>
            <a:r>
              <a:rPr b="0" i="0" lang="en-US" sz="1400" u="none" cap="none" strike="noStrike">
                <a:solidFill>
                  <a:srgbClr val="FFFFFF"/>
                </a:solidFill>
                <a:latin typeface="Epilogue"/>
                <a:ea typeface="Epilogue"/>
                <a:cs typeface="Epilogue"/>
                <a:sym typeface="Epilogue"/>
              </a:rPr>
              <a:t> Sampling and augmentation techniques, frame filtering, and custom dataset collection</a:t>
            </a:r>
            <a:endParaRPr b="0" i="0" sz="1400" u="none" cap="none" strike="noStrike"/>
          </a:p>
        </p:txBody>
      </p:sp>
      <p:sp>
        <p:nvSpPr>
          <p:cNvPr id="139" name="Google Shape;139;p16"/>
          <p:cNvSpPr txBox="1"/>
          <p:nvPr/>
        </p:nvSpPr>
        <p:spPr>
          <a:xfrm>
            <a:off x="12705150" y="7617075"/>
            <a:ext cx="1803600" cy="61260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/>
          <p:nvPr/>
        </p:nvSpPr>
        <p:spPr>
          <a:xfrm>
            <a:off x="793790" y="832723"/>
            <a:ext cx="721506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Fraunces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Depth Estimation Datasets</a:t>
            </a:r>
            <a:endParaRPr b="0" i="0" sz="4450" u="none" cap="none" strike="noStrike"/>
          </a:p>
        </p:txBody>
      </p:sp>
      <p:sp>
        <p:nvSpPr>
          <p:cNvPr id="146" name="Google Shape;146;p17"/>
          <p:cNvSpPr/>
          <p:nvPr/>
        </p:nvSpPr>
        <p:spPr>
          <a:xfrm>
            <a:off x="793790" y="199513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Datasets used for training and evaluating depth estimation models that predict distance to obstacles.</a:t>
            </a:r>
            <a:endParaRPr b="0" i="0" sz="1750" u="none" cap="none" strike="noStrike"/>
          </a:p>
        </p:txBody>
      </p:sp>
      <p:sp>
        <p:nvSpPr>
          <p:cNvPr id="147" name="Google Shape;147;p17"/>
          <p:cNvSpPr/>
          <p:nvPr/>
        </p:nvSpPr>
        <p:spPr>
          <a:xfrm>
            <a:off x="793790" y="2613184"/>
            <a:ext cx="4196358" cy="1685092"/>
          </a:xfrm>
          <a:prstGeom prst="roundRect">
            <a:avLst>
              <a:gd fmla="val 5654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1028224" y="284761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2200"/>
              <a:buFont typeface="Fraunces"/>
              <a:buNone/>
            </a:pPr>
            <a:r>
              <a:rPr b="0" i="0" lang="en-US" sz="220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NYU Depth V2</a:t>
            </a:r>
            <a:endParaRPr b="0" i="0" sz="2200" u="none" cap="none" strike="noStrike"/>
          </a:p>
        </p:txBody>
      </p:sp>
      <p:sp>
        <p:nvSpPr>
          <p:cNvPr id="149" name="Google Shape;149;p17"/>
          <p:cNvSpPr/>
          <p:nvPr/>
        </p:nvSpPr>
        <p:spPr>
          <a:xfrm>
            <a:off x="1028224" y="3338036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1449 densely labeled indoor scenes with RGB-D pairs</a:t>
            </a:r>
            <a:endParaRPr b="0" i="0" sz="1750" u="none" cap="none" strike="noStrike"/>
          </a:p>
        </p:txBody>
      </p:sp>
      <p:sp>
        <p:nvSpPr>
          <p:cNvPr id="150" name="Google Shape;150;p17"/>
          <p:cNvSpPr/>
          <p:nvPr/>
        </p:nvSpPr>
        <p:spPr>
          <a:xfrm>
            <a:off x="5216962" y="2613184"/>
            <a:ext cx="4196358" cy="1685092"/>
          </a:xfrm>
          <a:prstGeom prst="roundRect">
            <a:avLst>
              <a:gd fmla="val 5654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451396" y="284761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2200"/>
              <a:buFont typeface="Fraunces"/>
              <a:buNone/>
            </a:pPr>
            <a:r>
              <a:rPr b="0" i="0" lang="en-US" sz="220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ScanNet</a:t>
            </a:r>
            <a:endParaRPr b="0" i="0" sz="2200" u="none" cap="none" strike="noStrike"/>
          </a:p>
        </p:txBody>
      </p:sp>
      <p:sp>
        <p:nvSpPr>
          <p:cNvPr id="152" name="Google Shape;152;p17"/>
          <p:cNvSpPr/>
          <p:nvPr/>
        </p:nvSpPr>
        <p:spPr>
          <a:xfrm>
            <a:off x="5451396" y="3338036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Over 1,500 indoor scans with 3D reconstructions</a:t>
            </a:r>
            <a:endParaRPr b="0" i="0" sz="1750" u="none" cap="none" strike="noStrike"/>
          </a:p>
        </p:txBody>
      </p:sp>
      <p:sp>
        <p:nvSpPr>
          <p:cNvPr id="153" name="Google Shape;153;p17"/>
          <p:cNvSpPr/>
          <p:nvPr/>
        </p:nvSpPr>
        <p:spPr>
          <a:xfrm>
            <a:off x="9640133" y="2613184"/>
            <a:ext cx="4196358" cy="1685092"/>
          </a:xfrm>
          <a:prstGeom prst="roundRect">
            <a:avLst>
              <a:gd fmla="val 5654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9874568" y="284761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2200"/>
              <a:buFont typeface="Fraunces"/>
              <a:buNone/>
            </a:pPr>
            <a:r>
              <a:rPr b="0" i="0" lang="en-US" sz="220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SUN RGB-D</a:t>
            </a:r>
            <a:endParaRPr b="0" i="0" sz="2200" u="none" cap="none" strike="noStrike"/>
          </a:p>
        </p:txBody>
      </p:sp>
      <p:sp>
        <p:nvSpPr>
          <p:cNvPr id="155" name="Google Shape;155;p17"/>
          <p:cNvSpPr/>
          <p:nvPr/>
        </p:nvSpPr>
        <p:spPr>
          <a:xfrm>
            <a:off x="9874568" y="3338036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10,000 RGB-D images across 19 indoor scene categories</a:t>
            </a:r>
            <a:endParaRPr b="0" i="0" sz="1750" u="none" cap="none" strike="noStrike"/>
          </a:p>
        </p:txBody>
      </p:sp>
      <p:sp>
        <p:nvSpPr>
          <p:cNvPr id="156" name="Google Shape;156;p17"/>
          <p:cNvSpPr/>
          <p:nvPr/>
        </p:nvSpPr>
        <p:spPr>
          <a:xfrm>
            <a:off x="793790" y="4638437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50"/>
              <a:buFont typeface="Fraunces"/>
              <a:buNone/>
            </a:pPr>
            <a:r>
              <a:rPr b="0" i="0" lang="en-US" sz="265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Additional Datasets</a:t>
            </a:r>
            <a:endParaRPr b="0" i="0" sz="2650" u="none" cap="none" strike="noStrike"/>
          </a:p>
        </p:txBody>
      </p:sp>
      <p:sp>
        <p:nvSpPr>
          <p:cNvPr id="157" name="Google Shape;157;p17"/>
          <p:cNvSpPr/>
          <p:nvPr/>
        </p:nvSpPr>
        <p:spPr>
          <a:xfrm>
            <a:off x="793790" y="563070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Fraunces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DIODE</a:t>
            </a:r>
            <a:endParaRPr b="0" i="0" sz="2200" u="none" cap="none" strike="noStrike"/>
          </a:p>
        </p:txBody>
      </p:sp>
      <p:sp>
        <p:nvSpPr>
          <p:cNvPr id="158" name="Google Shape;158;p17"/>
          <p:cNvSpPr/>
          <p:nvPr/>
        </p:nvSpPr>
        <p:spPr>
          <a:xfrm>
            <a:off x="793790" y="621184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High-resolution outdoor and indoor depth images</a:t>
            </a:r>
            <a:endParaRPr b="0" i="0" sz="1750" u="none" cap="none" strike="noStrike"/>
          </a:p>
        </p:txBody>
      </p:sp>
      <p:sp>
        <p:nvSpPr>
          <p:cNvPr id="159" name="Google Shape;159;p17"/>
          <p:cNvSpPr/>
          <p:nvPr/>
        </p:nvSpPr>
        <p:spPr>
          <a:xfrm>
            <a:off x="7599521" y="563070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Fraunces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Matterport3D</a:t>
            </a:r>
            <a:endParaRPr b="0" i="0" sz="2200" u="none" cap="none" strike="noStrike"/>
          </a:p>
        </p:txBody>
      </p:sp>
      <p:sp>
        <p:nvSpPr>
          <p:cNvPr id="160" name="Google Shape;160;p17"/>
          <p:cNvSpPr/>
          <p:nvPr/>
        </p:nvSpPr>
        <p:spPr>
          <a:xfrm>
            <a:off x="7599521" y="621184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Large-scale 3D spaces with panoramic views</a:t>
            </a:r>
            <a:endParaRPr b="0" i="0" sz="1750" u="none" cap="none" strike="noStrike"/>
          </a:p>
        </p:txBody>
      </p:sp>
      <p:sp>
        <p:nvSpPr>
          <p:cNvPr id="161" name="Google Shape;161;p17"/>
          <p:cNvSpPr/>
          <p:nvPr/>
        </p:nvSpPr>
        <p:spPr>
          <a:xfrm>
            <a:off x="793790" y="7033974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These datasets provide RGB images paired with ground-truth depth maps across diverse indoor environments.</a:t>
            </a:r>
            <a:endParaRPr b="0" i="0" sz="1750" u="none" cap="none" strike="noStrike"/>
          </a:p>
        </p:txBody>
      </p:sp>
      <p:sp>
        <p:nvSpPr>
          <p:cNvPr id="162" name="Google Shape;162;p17"/>
          <p:cNvSpPr txBox="1"/>
          <p:nvPr/>
        </p:nvSpPr>
        <p:spPr>
          <a:xfrm>
            <a:off x="12705150" y="7617075"/>
            <a:ext cx="1803600" cy="61260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/>
          <p:nvPr/>
        </p:nvSpPr>
        <p:spPr>
          <a:xfrm>
            <a:off x="793790" y="803672"/>
            <a:ext cx="809279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Fraunces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Depth Dataset Characteristics</a:t>
            </a:r>
            <a:endParaRPr b="0" i="0" sz="4450" u="none" cap="none" strike="noStrike"/>
          </a:p>
        </p:txBody>
      </p:sp>
      <p:sp>
        <p:nvSpPr>
          <p:cNvPr id="169" name="Google Shape;169;p18"/>
          <p:cNvSpPr/>
          <p:nvPr/>
        </p:nvSpPr>
        <p:spPr>
          <a:xfrm>
            <a:off x="793790" y="2277547"/>
            <a:ext cx="4802267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50"/>
              <a:buFont typeface="Fraunces"/>
              <a:buNone/>
            </a:pPr>
            <a:r>
              <a:rPr b="0" i="0" lang="en-US" sz="265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What Depth Datasets Contain</a:t>
            </a:r>
            <a:endParaRPr b="0" i="0" sz="2650" u="none" cap="none" strike="noStrike"/>
          </a:p>
        </p:txBody>
      </p:sp>
      <p:sp>
        <p:nvSpPr>
          <p:cNvPr id="170" name="Google Shape;170;p18"/>
          <p:cNvSpPr/>
          <p:nvPr/>
        </p:nvSpPr>
        <p:spPr>
          <a:xfrm>
            <a:off x="793790" y="2929652"/>
            <a:ext cx="8284131" cy="124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Char char="•"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RGB images paired with depth maps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Char char="•"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Per-pixel distance measurements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Char char="•"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Indoor scenes including rooms, hallways, and kitchens</a:t>
            </a:r>
            <a:endParaRPr b="0" i="0" sz="1750" u="none" cap="none" strike="noStrike"/>
          </a:p>
        </p:txBody>
      </p:sp>
      <p:sp>
        <p:nvSpPr>
          <p:cNvPr id="171" name="Google Shape;171;p18"/>
          <p:cNvSpPr/>
          <p:nvPr/>
        </p:nvSpPr>
        <p:spPr>
          <a:xfrm>
            <a:off x="793790" y="4403765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50"/>
              <a:buFont typeface="Fraunces"/>
              <a:buNone/>
            </a:pPr>
            <a:r>
              <a:rPr b="0" i="0" lang="en-US" sz="265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Typical Properties</a:t>
            </a:r>
            <a:endParaRPr b="0" i="0" sz="2650" u="none" cap="none" strike="noStrike"/>
          </a:p>
        </p:txBody>
      </p:sp>
      <p:sp>
        <p:nvSpPr>
          <p:cNvPr id="172" name="Google Shape;172;p18"/>
          <p:cNvSpPr/>
          <p:nvPr/>
        </p:nvSpPr>
        <p:spPr>
          <a:xfrm>
            <a:off x="793790" y="5055870"/>
            <a:ext cx="828413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Resolution ranges from </a:t>
            </a:r>
            <a:r>
              <a:rPr b="1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480×640</a:t>
            </a: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 to </a:t>
            </a:r>
            <a:r>
              <a:rPr b="1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1024×768</a:t>
            </a: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 pixels</a:t>
            </a:r>
            <a:endParaRPr b="0" i="0" sz="1750" u="none" cap="none" strike="noStrike"/>
          </a:p>
        </p:txBody>
      </p:sp>
      <p:sp>
        <p:nvSpPr>
          <p:cNvPr id="173" name="Google Shape;173;p18"/>
          <p:cNvSpPr/>
          <p:nvPr/>
        </p:nvSpPr>
        <p:spPr>
          <a:xfrm>
            <a:off x="793790" y="5645587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50"/>
              <a:buFont typeface="Fraunces"/>
              <a:buNone/>
            </a:pPr>
            <a:r>
              <a:rPr b="0" i="0" lang="en-US" sz="265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Purpose</a:t>
            </a:r>
            <a:endParaRPr b="0" i="0" sz="2650" u="none" cap="none" strike="noStrike"/>
          </a:p>
        </p:txBody>
      </p:sp>
      <p:sp>
        <p:nvSpPr>
          <p:cNvPr id="174" name="Google Shape;174;p18"/>
          <p:cNvSpPr/>
          <p:nvPr/>
        </p:nvSpPr>
        <p:spPr>
          <a:xfrm>
            <a:off x="793790" y="6297692"/>
            <a:ext cx="828413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Train models to estimate </a:t>
            </a:r>
            <a:r>
              <a:rPr b="1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distance to obstacles in near-field navigation (0–3 meters)</a:t>
            </a:r>
            <a:endParaRPr b="0" i="0" sz="1750" u="none" cap="none" strike="noStrike"/>
          </a:p>
        </p:txBody>
      </p:sp>
      <p:pic>
        <p:nvPicPr>
          <p:cNvPr descr="preencoded.png" id="175" name="Google Shape;1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8943" y="2107763"/>
            <a:ext cx="4205168" cy="315515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/>
          <p:nvPr/>
        </p:nvSpPr>
        <p:spPr>
          <a:xfrm>
            <a:off x="9638943" y="551807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Fraunces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Challenges</a:t>
            </a:r>
            <a:endParaRPr b="0" i="0" sz="2200" u="none" cap="none" strike="noStrike"/>
          </a:p>
        </p:txBody>
      </p:sp>
      <p:sp>
        <p:nvSpPr>
          <p:cNvPr id="177" name="Google Shape;177;p18"/>
          <p:cNvSpPr/>
          <p:nvPr/>
        </p:nvSpPr>
        <p:spPr>
          <a:xfrm>
            <a:off x="9638943" y="6099215"/>
            <a:ext cx="4205168" cy="124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Char char="•"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Missing depth values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Char char="•"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Sensor noise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Char char="•"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Reflective surfaces</a:t>
            </a:r>
            <a:endParaRPr b="0" i="0" sz="1750" u="none" cap="none" strike="noStrike"/>
          </a:p>
        </p:txBody>
      </p:sp>
      <p:sp>
        <p:nvSpPr>
          <p:cNvPr id="178" name="Google Shape;178;p18"/>
          <p:cNvSpPr txBox="1"/>
          <p:nvPr/>
        </p:nvSpPr>
        <p:spPr>
          <a:xfrm>
            <a:off x="12705150" y="7617075"/>
            <a:ext cx="1803600" cy="61260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/>
          <p:nvPr/>
        </p:nvSpPr>
        <p:spPr>
          <a:xfrm>
            <a:off x="1506498" y="957263"/>
            <a:ext cx="5257800" cy="526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Fraunces"/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Depth Data Preprocessing</a:t>
            </a:r>
            <a:endParaRPr b="0" i="0" sz="3300" u="none" cap="none" strike="noStrike"/>
          </a:p>
        </p:txBody>
      </p:sp>
      <p:sp>
        <p:nvSpPr>
          <p:cNvPr id="185" name="Google Shape;185;p19"/>
          <p:cNvSpPr/>
          <p:nvPr/>
        </p:nvSpPr>
        <p:spPr>
          <a:xfrm>
            <a:off x="1506498" y="1733193"/>
            <a:ext cx="11617285" cy="234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00"/>
              <a:buFont typeface="Epilogue"/>
              <a:buNone/>
            </a:pPr>
            <a:r>
              <a:rPr b="0" i="0" lang="en-US" sz="13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Preprocessing ensures consistent input format for depth estimation models and improves robustness in real indoor environments.</a:t>
            </a:r>
            <a:endParaRPr b="0" i="0" sz="1300" u="none" cap="none" strike="noStrike"/>
          </a:p>
        </p:txBody>
      </p:sp>
      <p:pic>
        <p:nvPicPr>
          <p:cNvPr descr="preencoded.png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6498" y="2108240"/>
            <a:ext cx="5808583" cy="6734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/>
          <p:nvPr/>
        </p:nvSpPr>
        <p:spPr>
          <a:xfrm>
            <a:off x="1674852" y="2906554"/>
            <a:ext cx="2207657" cy="263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650"/>
              <a:buFont typeface="Fraunces"/>
              <a:buNone/>
            </a:pPr>
            <a:r>
              <a:rPr b="0" i="0" lang="en-US" sz="165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Remove Invalid Pixels</a:t>
            </a:r>
            <a:endParaRPr b="0" i="0" sz="1650" u="none" cap="none" strike="noStrike"/>
          </a:p>
        </p:txBody>
      </p:sp>
      <p:sp>
        <p:nvSpPr>
          <p:cNvPr id="188" name="Google Shape;188;p19"/>
          <p:cNvSpPr/>
          <p:nvPr/>
        </p:nvSpPr>
        <p:spPr>
          <a:xfrm>
            <a:off x="1674852" y="3244572"/>
            <a:ext cx="5471874" cy="234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00"/>
              <a:buFont typeface="Epilogue"/>
              <a:buNone/>
            </a:pPr>
            <a:r>
              <a:rPr b="0" i="0" lang="en-US" sz="13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Filter out missing or corrupted depth values</a:t>
            </a:r>
            <a:endParaRPr b="0" i="0" sz="1300" u="none" cap="none" strike="noStrike"/>
          </a:p>
        </p:txBody>
      </p:sp>
      <p:pic>
        <p:nvPicPr>
          <p:cNvPr descr="preencoded.png" id="189" name="Google Shape;18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081" y="2108240"/>
            <a:ext cx="5808702" cy="67341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/>
          <p:nvPr/>
        </p:nvSpPr>
        <p:spPr>
          <a:xfrm>
            <a:off x="7483435" y="2906554"/>
            <a:ext cx="2104549" cy="263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650"/>
              <a:buFont typeface="Fraunces"/>
              <a:buNone/>
            </a:pPr>
            <a:r>
              <a:rPr b="0" i="0" lang="en-US" sz="165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Resize Images</a:t>
            </a:r>
            <a:endParaRPr b="0" i="0" sz="1650" u="none" cap="none" strike="noStrike"/>
          </a:p>
        </p:txBody>
      </p:sp>
      <p:sp>
        <p:nvSpPr>
          <p:cNvPr id="191" name="Google Shape;191;p19"/>
          <p:cNvSpPr/>
          <p:nvPr/>
        </p:nvSpPr>
        <p:spPr>
          <a:xfrm>
            <a:off x="7483435" y="3244572"/>
            <a:ext cx="5471993" cy="234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00"/>
              <a:buFont typeface="Epilogue"/>
              <a:buNone/>
            </a:pPr>
            <a:r>
              <a:rPr b="0" i="0" lang="en-US" sz="13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Adjust to model input resolution requirements</a:t>
            </a:r>
            <a:endParaRPr b="0" i="0" sz="1300" u="none" cap="none" strike="noStrike"/>
          </a:p>
        </p:txBody>
      </p:sp>
      <p:pic>
        <p:nvPicPr>
          <p:cNvPr descr="preencoded.png" id="192" name="Google Shape;19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06498" y="3647480"/>
            <a:ext cx="5808583" cy="67341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/>
          <p:nvPr/>
        </p:nvSpPr>
        <p:spPr>
          <a:xfrm>
            <a:off x="1674852" y="4445794"/>
            <a:ext cx="2104549" cy="263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650"/>
              <a:buFont typeface="Fraunces"/>
              <a:buNone/>
            </a:pPr>
            <a:r>
              <a:rPr b="0" i="0" lang="en-US" sz="165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Normalize Values</a:t>
            </a:r>
            <a:endParaRPr b="0" i="0" sz="1650" u="none" cap="none" strike="noStrike"/>
          </a:p>
        </p:txBody>
      </p:sp>
      <p:sp>
        <p:nvSpPr>
          <p:cNvPr id="194" name="Google Shape;194;p19"/>
          <p:cNvSpPr/>
          <p:nvPr/>
        </p:nvSpPr>
        <p:spPr>
          <a:xfrm>
            <a:off x="1674852" y="4783812"/>
            <a:ext cx="5471874" cy="234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00"/>
              <a:buFont typeface="Epilogue"/>
              <a:buNone/>
            </a:pPr>
            <a:r>
              <a:rPr b="0" i="0" lang="en-US" sz="13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Standardize pixel intensity ranges</a:t>
            </a:r>
            <a:endParaRPr b="0" i="0" sz="1300" u="none" cap="none" strike="noStrike"/>
          </a:p>
        </p:txBody>
      </p:sp>
      <p:pic>
        <p:nvPicPr>
          <p:cNvPr descr="preencoded.png" id="195" name="Google Shape;19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081" y="3647480"/>
            <a:ext cx="5808702" cy="67341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/>
          <p:nvPr/>
        </p:nvSpPr>
        <p:spPr>
          <a:xfrm>
            <a:off x="7483435" y="4445794"/>
            <a:ext cx="2104549" cy="263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650"/>
              <a:buFont typeface="Fraunces"/>
              <a:buNone/>
            </a:pPr>
            <a:r>
              <a:rPr b="0" i="0" lang="en-US" sz="165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Filter Frames</a:t>
            </a:r>
            <a:endParaRPr b="0" i="0" sz="1650" u="none" cap="none" strike="noStrike"/>
          </a:p>
        </p:txBody>
      </p:sp>
      <p:sp>
        <p:nvSpPr>
          <p:cNvPr id="197" name="Google Shape;197;p19"/>
          <p:cNvSpPr/>
          <p:nvPr/>
        </p:nvSpPr>
        <p:spPr>
          <a:xfrm>
            <a:off x="7483435" y="4783812"/>
            <a:ext cx="5471993" cy="234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00"/>
              <a:buFont typeface="Epilogue"/>
              <a:buNone/>
            </a:pPr>
            <a:r>
              <a:rPr b="0" i="0" lang="en-US" sz="13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Remove redundant video frames</a:t>
            </a:r>
            <a:endParaRPr b="0" i="0" sz="1300" u="none" cap="none" strike="noStrike"/>
          </a:p>
        </p:txBody>
      </p:sp>
      <p:sp>
        <p:nvSpPr>
          <p:cNvPr id="198" name="Google Shape;198;p19"/>
          <p:cNvSpPr/>
          <p:nvPr/>
        </p:nvSpPr>
        <p:spPr>
          <a:xfrm>
            <a:off x="1506498" y="5374124"/>
            <a:ext cx="3793212" cy="31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Fraunces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Data Augmentation Techniques</a:t>
            </a:r>
            <a:endParaRPr b="0" i="0" sz="1950" u="none" cap="none" strike="noStrike"/>
          </a:p>
        </p:txBody>
      </p:sp>
      <p:sp>
        <p:nvSpPr>
          <p:cNvPr id="199" name="Google Shape;199;p19"/>
          <p:cNvSpPr/>
          <p:nvPr/>
        </p:nvSpPr>
        <p:spPr>
          <a:xfrm>
            <a:off x="1506498" y="5966520"/>
            <a:ext cx="84177" cy="84177"/>
          </a:xfrm>
          <a:prstGeom prst="roundRect">
            <a:avLst>
              <a:gd fmla="val 543141" name="adj"/>
            </a:avLst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1715572" y="5877163"/>
            <a:ext cx="2409230" cy="263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650"/>
              <a:buFont typeface="Fraunces"/>
              <a:buNone/>
            </a:pPr>
            <a:r>
              <a:rPr b="0" i="0" lang="en-US" sz="165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Brightness Adjustments</a:t>
            </a:r>
            <a:endParaRPr b="0" i="0" sz="1650" u="none" cap="none" strike="noStrike"/>
          </a:p>
        </p:txBody>
      </p:sp>
      <p:sp>
        <p:nvSpPr>
          <p:cNvPr id="201" name="Google Shape;201;p19"/>
          <p:cNvSpPr/>
          <p:nvPr/>
        </p:nvSpPr>
        <p:spPr>
          <a:xfrm>
            <a:off x="1715572" y="6215182"/>
            <a:ext cx="5521404" cy="234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00"/>
              <a:buFont typeface="Epilogue"/>
              <a:buNone/>
            </a:pPr>
            <a:r>
              <a:rPr b="0" i="0" lang="en-US" sz="13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Simulate varying lighting conditions</a:t>
            </a:r>
            <a:endParaRPr b="0" i="0" sz="1300" u="none" cap="none" strike="noStrike"/>
          </a:p>
        </p:txBody>
      </p:sp>
      <p:sp>
        <p:nvSpPr>
          <p:cNvPr id="202" name="Google Shape;202;p19"/>
          <p:cNvSpPr/>
          <p:nvPr/>
        </p:nvSpPr>
        <p:spPr>
          <a:xfrm>
            <a:off x="7393186" y="5966520"/>
            <a:ext cx="84177" cy="84177"/>
          </a:xfrm>
          <a:prstGeom prst="roundRect">
            <a:avLst>
              <a:gd fmla="val 543141" name="adj"/>
            </a:avLst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7602260" y="5877163"/>
            <a:ext cx="2104549" cy="263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650"/>
              <a:buFont typeface="Fraunces"/>
              <a:buNone/>
            </a:pPr>
            <a:r>
              <a:rPr b="0" i="0" lang="en-US" sz="165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Scaling</a:t>
            </a:r>
            <a:endParaRPr b="0" i="0" sz="1650" u="none" cap="none" strike="noStrike"/>
          </a:p>
        </p:txBody>
      </p:sp>
      <p:sp>
        <p:nvSpPr>
          <p:cNvPr id="204" name="Google Shape;204;p19"/>
          <p:cNvSpPr/>
          <p:nvPr/>
        </p:nvSpPr>
        <p:spPr>
          <a:xfrm>
            <a:off x="7602260" y="6215182"/>
            <a:ext cx="5521523" cy="234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00"/>
              <a:buFont typeface="Epilogue"/>
              <a:buNone/>
            </a:pPr>
            <a:r>
              <a:rPr b="0" i="0" lang="en-US" sz="13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Random size variations for robustness</a:t>
            </a:r>
            <a:endParaRPr b="0" i="0" sz="1300" u="none" cap="none" strike="noStrike"/>
          </a:p>
        </p:txBody>
      </p:sp>
      <p:sp>
        <p:nvSpPr>
          <p:cNvPr id="205" name="Google Shape;205;p19"/>
          <p:cNvSpPr/>
          <p:nvPr/>
        </p:nvSpPr>
        <p:spPr>
          <a:xfrm>
            <a:off x="1506498" y="6789003"/>
            <a:ext cx="84177" cy="84177"/>
          </a:xfrm>
          <a:prstGeom prst="roundRect">
            <a:avLst>
              <a:gd fmla="val 543141" name="adj"/>
            </a:avLst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1715572" y="6699647"/>
            <a:ext cx="2104549" cy="263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650"/>
              <a:buFont typeface="Fraunces"/>
              <a:buNone/>
            </a:pPr>
            <a:r>
              <a:rPr b="0" i="0" lang="en-US" sz="165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Slight Rotations</a:t>
            </a:r>
            <a:endParaRPr b="0" i="0" sz="1650" u="none" cap="none" strike="noStrike"/>
          </a:p>
        </p:txBody>
      </p:sp>
      <p:sp>
        <p:nvSpPr>
          <p:cNvPr id="207" name="Google Shape;207;p19"/>
          <p:cNvSpPr/>
          <p:nvPr/>
        </p:nvSpPr>
        <p:spPr>
          <a:xfrm>
            <a:off x="1715572" y="7037665"/>
            <a:ext cx="5521404" cy="234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00"/>
              <a:buFont typeface="Epilogue"/>
              <a:buNone/>
            </a:pPr>
            <a:r>
              <a:rPr b="0" i="0" lang="en-US" sz="13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Orientation variations within limited range</a:t>
            </a:r>
            <a:endParaRPr b="0" i="0" sz="1300" u="none" cap="none" strike="noStrike"/>
          </a:p>
        </p:txBody>
      </p:sp>
      <p:sp>
        <p:nvSpPr>
          <p:cNvPr id="208" name="Google Shape;208;p19"/>
          <p:cNvSpPr/>
          <p:nvPr/>
        </p:nvSpPr>
        <p:spPr>
          <a:xfrm>
            <a:off x="7393186" y="6789003"/>
            <a:ext cx="84177" cy="84177"/>
          </a:xfrm>
          <a:prstGeom prst="roundRect">
            <a:avLst>
              <a:gd fmla="val 543141" name="adj"/>
            </a:avLst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7602260" y="6699647"/>
            <a:ext cx="2104549" cy="263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650"/>
              <a:buFont typeface="Fraunces"/>
              <a:buNone/>
            </a:pPr>
            <a:r>
              <a:rPr b="0" i="0" lang="en-US" sz="165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Noise Injection</a:t>
            </a:r>
            <a:endParaRPr b="0" i="0" sz="1650" u="none" cap="none" strike="noStrike"/>
          </a:p>
        </p:txBody>
      </p:sp>
      <p:sp>
        <p:nvSpPr>
          <p:cNvPr id="210" name="Google Shape;210;p19"/>
          <p:cNvSpPr/>
          <p:nvPr/>
        </p:nvSpPr>
        <p:spPr>
          <a:xfrm>
            <a:off x="7602260" y="7037665"/>
            <a:ext cx="5521523" cy="234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00"/>
              <a:buFont typeface="Epilogue"/>
              <a:buNone/>
            </a:pPr>
            <a:r>
              <a:rPr b="0" i="0" lang="en-US" sz="13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Add realistic sensor noise patterns</a:t>
            </a:r>
            <a:endParaRPr b="0" i="0" sz="1300" u="none" cap="none" strike="noStrike"/>
          </a:p>
        </p:txBody>
      </p:sp>
      <p:sp>
        <p:nvSpPr>
          <p:cNvPr id="211" name="Google Shape;211;p19"/>
          <p:cNvSpPr txBox="1"/>
          <p:nvPr/>
        </p:nvSpPr>
        <p:spPr>
          <a:xfrm>
            <a:off x="12705150" y="7617075"/>
            <a:ext cx="1803600" cy="61260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7" name="Google Shape;2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/>
          <p:nvPr/>
        </p:nvSpPr>
        <p:spPr>
          <a:xfrm>
            <a:off x="696024" y="984294"/>
            <a:ext cx="45876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7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50"/>
              <a:buFont typeface="Fraunces"/>
              <a:buNone/>
            </a:pPr>
            <a:r>
              <a:rPr b="0" i="0" lang="en-US" sz="335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Speech / TTS Datasets</a:t>
            </a:r>
            <a:endParaRPr b="0" i="0" sz="3350" u="none" cap="none" strike="noStrike"/>
          </a:p>
        </p:txBody>
      </p:sp>
      <p:sp>
        <p:nvSpPr>
          <p:cNvPr id="219" name="Google Shape;219;p20"/>
          <p:cNvSpPr/>
          <p:nvPr/>
        </p:nvSpPr>
        <p:spPr>
          <a:xfrm>
            <a:off x="696024" y="1785831"/>
            <a:ext cx="79398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50"/>
              <a:buFont typeface="Epilogue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Datasets used for training speech generation and text-to-speech conversion systems.</a:t>
            </a:r>
            <a:endParaRPr b="0" i="0" sz="1850" u="none" cap="none" strike="noStrike"/>
          </a:p>
        </p:txBody>
      </p:sp>
      <p:pic>
        <p:nvPicPr>
          <p:cNvPr descr="preencoded.png" id="220" name="Google Shape;2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099" y="2791301"/>
            <a:ext cx="430054" cy="43005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/>
          <p:nvPr/>
        </p:nvSpPr>
        <p:spPr>
          <a:xfrm>
            <a:off x="1195149" y="2791301"/>
            <a:ext cx="2150388" cy="268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650"/>
              <a:buFont typeface="Fraunces"/>
              <a:buNone/>
            </a:pPr>
            <a:r>
              <a:rPr b="0" i="0" lang="en-US" sz="165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LJ Speech</a:t>
            </a:r>
            <a:endParaRPr b="0" i="0" sz="1650" u="none" cap="none" strike="noStrike"/>
          </a:p>
        </p:txBody>
      </p:sp>
      <p:sp>
        <p:nvSpPr>
          <p:cNvPr id="222" name="Google Shape;222;p20"/>
          <p:cNvSpPr/>
          <p:nvPr/>
        </p:nvSpPr>
        <p:spPr>
          <a:xfrm>
            <a:off x="1195149" y="3138249"/>
            <a:ext cx="7346752" cy="241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50"/>
              <a:buFont typeface="Epilogue"/>
              <a:buNone/>
            </a:pPr>
            <a:r>
              <a:rPr b="0" i="0" lang="en-US" sz="13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13,100 short audio clips from a single speaker with corresponding text</a:t>
            </a:r>
            <a:endParaRPr b="0" i="0" sz="1350" u="none" cap="none" strike="noStrike"/>
          </a:p>
        </p:txBody>
      </p:sp>
      <p:pic>
        <p:nvPicPr>
          <p:cNvPr descr="preencoded.png" id="223" name="Google Shape;22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099" y="3641050"/>
            <a:ext cx="430054" cy="43005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/>
          <p:nvPr/>
        </p:nvSpPr>
        <p:spPr>
          <a:xfrm>
            <a:off x="1195149" y="3641050"/>
            <a:ext cx="2150388" cy="268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650"/>
              <a:buFont typeface="Fraunces"/>
              <a:buNone/>
            </a:pPr>
            <a:r>
              <a:rPr b="0" i="0" lang="en-US" sz="165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LibriTTS</a:t>
            </a:r>
            <a:endParaRPr b="0" i="0" sz="1650" u="none" cap="none" strike="noStrike"/>
          </a:p>
        </p:txBody>
      </p:sp>
      <p:sp>
        <p:nvSpPr>
          <p:cNvPr id="225" name="Google Shape;225;p20"/>
          <p:cNvSpPr/>
          <p:nvPr/>
        </p:nvSpPr>
        <p:spPr>
          <a:xfrm>
            <a:off x="1195149" y="3987998"/>
            <a:ext cx="7346752" cy="241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50"/>
              <a:buFont typeface="Epilogue"/>
              <a:buNone/>
            </a:pPr>
            <a:r>
              <a:rPr b="0" i="0" lang="en-US" sz="13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585 hours of audiobook recordings from multiple speakers with diverse voices</a:t>
            </a:r>
            <a:endParaRPr b="0" i="0" sz="1350" u="none" cap="none" strike="noStrike"/>
          </a:p>
        </p:txBody>
      </p:sp>
      <p:pic>
        <p:nvPicPr>
          <p:cNvPr descr="preencoded.png" id="226" name="Google Shape;22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2099" y="4490799"/>
            <a:ext cx="430054" cy="430054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/>
          <p:nvPr/>
        </p:nvSpPr>
        <p:spPr>
          <a:xfrm>
            <a:off x="1195149" y="4490799"/>
            <a:ext cx="2150388" cy="268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650"/>
              <a:buFont typeface="Fraunces"/>
              <a:buNone/>
            </a:pPr>
            <a:r>
              <a:rPr b="0" i="0" lang="en-US" sz="165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Common Voice</a:t>
            </a:r>
            <a:endParaRPr b="0" i="0" sz="1650" u="none" cap="none" strike="noStrike"/>
          </a:p>
        </p:txBody>
      </p:sp>
      <p:sp>
        <p:nvSpPr>
          <p:cNvPr id="228" name="Google Shape;228;p20"/>
          <p:cNvSpPr/>
          <p:nvPr/>
        </p:nvSpPr>
        <p:spPr>
          <a:xfrm>
            <a:off x="1195149" y="4837748"/>
            <a:ext cx="7346752" cy="241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50"/>
              <a:buFont typeface="Epilogue"/>
              <a:buNone/>
            </a:pPr>
            <a:r>
              <a:rPr b="0" i="0" lang="en-US" sz="13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Over 10,000 hours of crowd-sourced speech recordings in multiple languages</a:t>
            </a:r>
            <a:endParaRPr b="0" i="0" sz="1350" u="none" cap="none" strike="noStrike"/>
          </a:p>
        </p:txBody>
      </p:sp>
      <p:pic>
        <p:nvPicPr>
          <p:cNvPr descr="preencoded.png" id="229" name="Google Shape;22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2099" y="5340548"/>
            <a:ext cx="430054" cy="43005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/>
          <p:nvPr/>
        </p:nvSpPr>
        <p:spPr>
          <a:xfrm>
            <a:off x="1195149" y="5340548"/>
            <a:ext cx="2150388" cy="268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650"/>
              <a:buFont typeface="Fraunces"/>
              <a:buNone/>
            </a:pPr>
            <a:r>
              <a:rPr b="0" i="0" lang="en-US" sz="165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VCTK</a:t>
            </a:r>
            <a:endParaRPr b="0" i="0" sz="1650" u="none" cap="none" strike="noStrike"/>
          </a:p>
        </p:txBody>
      </p:sp>
      <p:sp>
        <p:nvSpPr>
          <p:cNvPr id="231" name="Google Shape;231;p20"/>
          <p:cNvSpPr/>
          <p:nvPr/>
        </p:nvSpPr>
        <p:spPr>
          <a:xfrm>
            <a:off x="1195149" y="5687497"/>
            <a:ext cx="7346752" cy="241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50"/>
              <a:buFont typeface="Epilogue"/>
              <a:buNone/>
            </a:pPr>
            <a:r>
              <a:rPr b="0" i="0" lang="en-US" sz="13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109 speakers with various accents and voice characteristics</a:t>
            </a:r>
            <a:endParaRPr b="0" i="0" sz="1350" u="none" cap="none" strike="noStrike"/>
          </a:p>
        </p:txBody>
      </p:sp>
      <p:sp>
        <p:nvSpPr>
          <p:cNvPr id="232" name="Google Shape;232;p20"/>
          <p:cNvSpPr/>
          <p:nvPr/>
        </p:nvSpPr>
        <p:spPr>
          <a:xfrm>
            <a:off x="602099" y="6369592"/>
            <a:ext cx="79398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50"/>
              <a:buFont typeface="Epilogue"/>
              <a:buNone/>
            </a:pPr>
            <a:r>
              <a:rPr b="0" i="0" lang="en-US" sz="13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These datasets provide large-scale speech recordings with multiple speakers and diverse language samples for clear spoken navigation instructions.</a:t>
            </a:r>
            <a:endParaRPr b="0" i="0" sz="1350" u="none" cap="none" strike="noStrike"/>
          </a:p>
        </p:txBody>
      </p:sp>
      <p:sp>
        <p:nvSpPr>
          <p:cNvPr id="233" name="Google Shape;233;p20"/>
          <p:cNvSpPr txBox="1"/>
          <p:nvPr/>
        </p:nvSpPr>
        <p:spPr>
          <a:xfrm>
            <a:off x="12705150" y="7617075"/>
            <a:ext cx="1803600" cy="61260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/>
          <p:nvPr/>
        </p:nvSpPr>
        <p:spPr>
          <a:xfrm>
            <a:off x="724257" y="570428"/>
            <a:ext cx="7380327" cy="646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50"/>
              <a:buFont typeface="Fraunces"/>
              <a:buNone/>
            </a:pPr>
            <a:r>
              <a:rPr b="0" i="0" lang="en-US" sz="405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Navigation Command Dataset</a:t>
            </a:r>
            <a:endParaRPr b="0" i="0" sz="4050" u="none" cap="none" strike="noStrike"/>
          </a:p>
        </p:txBody>
      </p:sp>
      <p:sp>
        <p:nvSpPr>
          <p:cNvPr id="240" name="Google Shape;240;p21"/>
          <p:cNvSpPr/>
          <p:nvPr/>
        </p:nvSpPr>
        <p:spPr>
          <a:xfrm>
            <a:off x="724257" y="4335542"/>
            <a:ext cx="3104198" cy="387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Fraunces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Custom Dataset</a:t>
            </a:r>
            <a:endParaRPr b="0" i="0" sz="2400" u="none" cap="none" strike="noStrike"/>
          </a:p>
        </p:txBody>
      </p:sp>
      <p:sp>
        <p:nvSpPr>
          <p:cNvPr id="241" name="Google Shape;241;p21"/>
          <p:cNvSpPr/>
          <p:nvPr/>
        </p:nvSpPr>
        <p:spPr>
          <a:xfrm>
            <a:off x="724257" y="4912162"/>
            <a:ext cx="4285417" cy="632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600"/>
              <a:buFont typeface="Epilogue"/>
              <a:buNone/>
            </a:pPr>
            <a:r>
              <a:rPr b="0" i="0" lang="en-US" sz="16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Created specifically for navigation instructions</a:t>
            </a:r>
            <a:endParaRPr b="0" i="0" sz="1600" u="none" cap="none" strike="noStrike"/>
          </a:p>
        </p:txBody>
      </p:sp>
      <p:sp>
        <p:nvSpPr>
          <p:cNvPr id="242" name="Google Shape;242;p21"/>
          <p:cNvSpPr/>
          <p:nvPr/>
        </p:nvSpPr>
        <p:spPr>
          <a:xfrm>
            <a:off x="5522119" y="3012162"/>
            <a:ext cx="3104198" cy="387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Fraunces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Example Commands</a:t>
            </a:r>
            <a:endParaRPr b="0" i="0" sz="2400" u="none" cap="none" strike="noStrike"/>
          </a:p>
        </p:txBody>
      </p:sp>
      <p:sp>
        <p:nvSpPr>
          <p:cNvPr id="243" name="Google Shape;243;p21"/>
          <p:cNvSpPr/>
          <p:nvPr/>
        </p:nvSpPr>
        <p:spPr>
          <a:xfrm>
            <a:off x="5522119" y="3588782"/>
            <a:ext cx="8391525" cy="632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600"/>
              <a:buFont typeface="Epilogue"/>
              <a:buNone/>
            </a:pPr>
            <a:r>
              <a:rPr b="1" i="0" lang="en-US" sz="16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Purpose:</a:t>
            </a:r>
            <a:r>
              <a:rPr b="0" i="0" lang="en-US" sz="16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 Evaluate how effectively the system communicates navigation decisions through audio feedback</a:t>
            </a:r>
            <a:endParaRPr b="0" i="0" sz="1600" u="none" cap="none" strike="noStrike"/>
          </a:p>
        </p:txBody>
      </p:sp>
      <p:pic>
        <p:nvPicPr>
          <p:cNvPr descr="preencoded.png" id="244" name="Google Shape;24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257" y="5927408"/>
            <a:ext cx="3153847" cy="173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/>
          <p:nvPr/>
        </p:nvSpPr>
        <p:spPr>
          <a:xfrm>
            <a:off x="931188" y="6134338"/>
            <a:ext cx="2586871" cy="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2000"/>
              <a:buFont typeface="Fraunces"/>
              <a:buNone/>
            </a:pPr>
            <a:r>
              <a:rPr b="0" i="0" lang="en-US" sz="200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"Obstacle ahead"</a:t>
            </a:r>
            <a:endParaRPr b="0" i="0" sz="2000" u="none" cap="none" strike="noStrike"/>
          </a:p>
        </p:txBody>
      </p:sp>
      <p:sp>
        <p:nvSpPr>
          <p:cNvPr id="246" name="Google Shape;246;p21"/>
          <p:cNvSpPr/>
          <p:nvPr/>
        </p:nvSpPr>
        <p:spPr>
          <a:xfrm>
            <a:off x="931188" y="6570940"/>
            <a:ext cx="2739985" cy="632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600"/>
              <a:buFont typeface="Epilogue"/>
              <a:buNone/>
            </a:pPr>
            <a:r>
              <a:rPr b="0" i="0" lang="en-US" sz="16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Warning of immediate obstruction</a:t>
            </a:r>
            <a:endParaRPr b="0" i="0" sz="1600" u="none" cap="none" strike="noStrike"/>
          </a:p>
        </p:txBody>
      </p:sp>
      <p:pic>
        <p:nvPicPr>
          <p:cNvPr descr="preencoded.png" id="247" name="Google Shape;24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6818" y="5927408"/>
            <a:ext cx="3153966" cy="173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/>
          <p:nvPr/>
        </p:nvSpPr>
        <p:spPr>
          <a:xfrm>
            <a:off x="4273748" y="6134338"/>
            <a:ext cx="2586871" cy="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2000"/>
              <a:buFont typeface="Fraunces"/>
              <a:buNone/>
            </a:pPr>
            <a:r>
              <a:rPr b="0" i="0" lang="en-US" sz="200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"Turn left"</a:t>
            </a:r>
            <a:endParaRPr b="0" i="0" sz="2000" u="none" cap="none" strike="noStrike"/>
          </a:p>
        </p:txBody>
      </p:sp>
      <p:sp>
        <p:nvSpPr>
          <p:cNvPr id="249" name="Google Shape;249;p21"/>
          <p:cNvSpPr/>
          <p:nvPr/>
        </p:nvSpPr>
        <p:spPr>
          <a:xfrm>
            <a:off x="4273748" y="6570940"/>
            <a:ext cx="2740104" cy="632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600"/>
              <a:buFont typeface="Epilogue"/>
              <a:buNone/>
            </a:pPr>
            <a:r>
              <a:rPr b="0" i="0" lang="en-US" sz="16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Directional guidance instruction</a:t>
            </a:r>
            <a:endParaRPr b="0" i="0" sz="1600" u="none" cap="none" strike="noStrike"/>
          </a:p>
        </p:txBody>
      </p:sp>
      <p:pic>
        <p:nvPicPr>
          <p:cNvPr descr="preencoded.png" id="250" name="Google Shape;25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9498" y="5927408"/>
            <a:ext cx="3153966" cy="173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/>
          <p:nvPr/>
        </p:nvSpPr>
        <p:spPr>
          <a:xfrm>
            <a:off x="7616428" y="6134338"/>
            <a:ext cx="2586871" cy="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2000"/>
              <a:buFont typeface="Fraunces"/>
              <a:buNone/>
            </a:pPr>
            <a:r>
              <a:rPr b="0" i="0" lang="en-US" sz="200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"Move forward"</a:t>
            </a:r>
            <a:endParaRPr b="0" i="0" sz="2000" u="none" cap="none" strike="noStrike"/>
          </a:p>
        </p:txBody>
      </p:sp>
      <p:sp>
        <p:nvSpPr>
          <p:cNvPr id="252" name="Google Shape;252;p21"/>
          <p:cNvSpPr/>
          <p:nvPr/>
        </p:nvSpPr>
        <p:spPr>
          <a:xfrm>
            <a:off x="7616428" y="6570940"/>
            <a:ext cx="2740104" cy="632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600"/>
              <a:buFont typeface="Epilogue"/>
              <a:buNone/>
            </a:pPr>
            <a:r>
              <a:rPr b="0" i="0" lang="en-US" sz="16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Continue in current direction</a:t>
            </a:r>
            <a:endParaRPr b="0" i="0" sz="1600" u="none" cap="none" strike="noStrike"/>
          </a:p>
        </p:txBody>
      </p:sp>
      <p:pic>
        <p:nvPicPr>
          <p:cNvPr descr="preencoded.png" id="253" name="Google Shape;25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52177" y="5927408"/>
            <a:ext cx="3153966" cy="173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/>
          <p:nvPr/>
        </p:nvSpPr>
        <p:spPr>
          <a:xfrm>
            <a:off x="10959108" y="6134338"/>
            <a:ext cx="2586871" cy="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2000"/>
              <a:buFont typeface="Fraunces"/>
              <a:buNone/>
            </a:pPr>
            <a:r>
              <a:rPr b="0" i="0" lang="en-US" sz="200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"Step down"</a:t>
            </a:r>
            <a:endParaRPr b="0" i="0" sz="2000" u="none" cap="none" strike="noStrike"/>
          </a:p>
        </p:txBody>
      </p:sp>
      <p:sp>
        <p:nvSpPr>
          <p:cNvPr id="255" name="Google Shape;255;p21"/>
          <p:cNvSpPr/>
          <p:nvPr/>
        </p:nvSpPr>
        <p:spPr>
          <a:xfrm>
            <a:off x="10959108" y="6570940"/>
            <a:ext cx="2740104" cy="632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600"/>
              <a:buFont typeface="Epilogue"/>
              <a:buNone/>
            </a:pPr>
            <a:r>
              <a:rPr b="0" i="0" lang="en-US" sz="16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Alert about elevation change</a:t>
            </a:r>
            <a:endParaRPr b="0" i="0" sz="1600" u="none" cap="none" strike="noStrike"/>
          </a:p>
        </p:txBody>
      </p:sp>
      <p:sp>
        <p:nvSpPr>
          <p:cNvPr id="256" name="Google Shape;256;p21"/>
          <p:cNvSpPr txBox="1"/>
          <p:nvPr/>
        </p:nvSpPr>
        <p:spPr>
          <a:xfrm>
            <a:off x="12705150" y="7617075"/>
            <a:ext cx="1803600" cy="61260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7" name="Google Shape;25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1200" y="1676400"/>
            <a:ext cx="3911300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/>
        </p:nvSpPr>
        <p:spPr>
          <a:xfrm>
            <a:off x="2366000" y="2598425"/>
            <a:ext cx="819300" cy="32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STOP</a:t>
            </a:r>
            <a:endParaRPr b="1">
              <a:solidFill>
                <a:schemeClr val="accen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3375650" y="2171950"/>
            <a:ext cx="819300" cy="323400"/>
          </a:xfrm>
          <a:prstGeom prst="rect">
            <a:avLst/>
          </a:prstGeom>
          <a:solidFill>
            <a:srgbClr val="31669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/>
          <p:nvPr/>
        </p:nvSpPr>
        <p:spPr>
          <a:xfrm>
            <a:off x="793790" y="1193483"/>
            <a:ext cx="585180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Fraunces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Dataset Split Strategy</a:t>
            </a:r>
            <a:endParaRPr b="0" i="0" sz="4450" u="none" cap="none" strike="noStrike"/>
          </a:p>
        </p:txBody>
      </p:sp>
      <p:sp>
        <p:nvSpPr>
          <p:cNvPr id="266" name="Google Shape;266;p22"/>
          <p:cNvSpPr/>
          <p:nvPr/>
        </p:nvSpPr>
        <p:spPr>
          <a:xfrm>
            <a:off x="793790" y="2355771"/>
            <a:ext cx="4158615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5850"/>
              <a:buFont typeface="Fraunces"/>
              <a:buNone/>
            </a:pPr>
            <a:r>
              <a:rPr b="0" i="0" lang="en-US" sz="585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70%</a:t>
            </a:r>
            <a:endParaRPr b="0" i="0" sz="5850" u="none" cap="none" strike="noStrike"/>
          </a:p>
        </p:txBody>
      </p:sp>
      <p:sp>
        <p:nvSpPr>
          <p:cNvPr id="267" name="Google Shape;267;p22"/>
          <p:cNvSpPr/>
          <p:nvPr/>
        </p:nvSpPr>
        <p:spPr>
          <a:xfrm>
            <a:off x="1455420" y="338756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2200"/>
              <a:buFont typeface="Fraunces"/>
              <a:buNone/>
            </a:pPr>
            <a:r>
              <a:rPr b="0" i="0" lang="en-US" sz="220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Training Set</a:t>
            </a:r>
            <a:endParaRPr b="0" i="0" sz="2200" u="none" cap="none" strike="noStrike"/>
          </a:p>
        </p:txBody>
      </p:sp>
      <p:sp>
        <p:nvSpPr>
          <p:cNvPr id="268" name="Google Shape;268;p22"/>
          <p:cNvSpPr/>
          <p:nvPr/>
        </p:nvSpPr>
        <p:spPr>
          <a:xfrm>
            <a:off x="793790" y="3877985"/>
            <a:ext cx="41586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Model learning and parameter optimization</a:t>
            </a:r>
            <a:endParaRPr b="0" i="0" sz="1750" u="none" cap="none" strike="noStrike"/>
          </a:p>
        </p:txBody>
      </p:sp>
      <p:sp>
        <p:nvSpPr>
          <p:cNvPr id="269" name="Google Shape;269;p22"/>
          <p:cNvSpPr/>
          <p:nvPr/>
        </p:nvSpPr>
        <p:spPr>
          <a:xfrm>
            <a:off x="5235893" y="2355771"/>
            <a:ext cx="4158615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5850"/>
              <a:buFont typeface="Fraunces"/>
              <a:buNone/>
            </a:pPr>
            <a:r>
              <a:rPr b="0" i="0" lang="en-US" sz="585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15%</a:t>
            </a:r>
            <a:endParaRPr b="0" i="0" sz="5850" u="none" cap="none" strike="noStrike"/>
          </a:p>
        </p:txBody>
      </p:sp>
      <p:sp>
        <p:nvSpPr>
          <p:cNvPr id="270" name="Google Shape;270;p22"/>
          <p:cNvSpPr/>
          <p:nvPr/>
        </p:nvSpPr>
        <p:spPr>
          <a:xfrm>
            <a:off x="5897523" y="338756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2200"/>
              <a:buFont typeface="Fraunces"/>
              <a:buNone/>
            </a:pPr>
            <a:r>
              <a:rPr b="0" i="0" lang="en-US" sz="220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Validation Set</a:t>
            </a:r>
            <a:endParaRPr b="0" i="0" sz="2200" u="none" cap="none" strike="noStrike"/>
          </a:p>
        </p:txBody>
      </p:sp>
      <p:sp>
        <p:nvSpPr>
          <p:cNvPr id="271" name="Google Shape;271;p22"/>
          <p:cNvSpPr/>
          <p:nvPr/>
        </p:nvSpPr>
        <p:spPr>
          <a:xfrm>
            <a:off x="5235893" y="3877985"/>
            <a:ext cx="41586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Hyperparameter tuning and model selection</a:t>
            </a:r>
            <a:endParaRPr b="0" i="0" sz="1750" u="none" cap="none" strike="noStrike"/>
          </a:p>
        </p:txBody>
      </p:sp>
      <p:sp>
        <p:nvSpPr>
          <p:cNvPr id="272" name="Google Shape;272;p22"/>
          <p:cNvSpPr/>
          <p:nvPr/>
        </p:nvSpPr>
        <p:spPr>
          <a:xfrm>
            <a:off x="9677995" y="2355771"/>
            <a:ext cx="4158615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5850"/>
              <a:buFont typeface="Fraunces"/>
              <a:buNone/>
            </a:pPr>
            <a:r>
              <a:rPr b="0" i="0" lang="en-US" sz="585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15%</a:t>
            </a:r>
            <a:endParaRPr b="0" i="0" sz="5850" u="none" cap="none" strike="noStrike"/>
          </a:p>
        </p:txBody>
      </p:sp>
      <p:sp>
        <p:nvSpPr>
          <p:cNvPr id="273" name="Google Shape;273;p22"/>
          <p:cNvSpPr/>
          <p:nvPr/>
        </p:nvSpPr>
        <p:spPr>
          <a:xfrm>
            <a:off x="10339626" y="338756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2200"/>
              <a:buFont typeface="Fraunces"/>
              <a:buNone/>
            </a:pPr>
            <a:r>
              <a:rPr b="0" i="0" lang="en-US" sz="2200" u="none" cap="none" strike="noStrike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Test Set</a:t>
            </a:r>
            <a:endParaRPr b="0" i="0" sz="2200" u="none" cap="none" strike="noStrike"/>
          </a:p>
        </p:txBody>
      </p:sp>
      <p:sp>
        <p:nvSpPr>
          <p:cNvPr id="274" name="Google Shape;274;p22"/>
          <p:cNvSpPr/>
          <p:nvPr/>
        </p:nvSpPr>
        <p:spPr>
          <a:xfrm>
            <a:off x="9677995" y="3877985"/>
            <a:ext cx="415861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750"/>
              <a:buFont typeface="Epilogue"/>
              <a:buNone/>
            </a:pPr>
            <a:r>
              <a:rPr b="0" i="0" lang="en-US" sz="17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Final unbiased evaluation</a:t>
            </a:r>
            <a:endParaRPr b="0" i="0" sz="1750" u="none" cap="none" strike="noStrike"/>
          </a:p>
        </p:txBody>
      </p:sp>
      <p:sp>
        <p:nvSpPr>
          <p:cNvPr id="275" name="Google Shape;275;p22"/>
          <p:cNvSpPr/>
          <p:nvPr/>
        </p:nvSpPr>
        <p:spPr>
          <a:xfrm>
            <a:off x="793790" y="4943951"/>
            <a:ext cx="4060865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50"/>
              <a:buFont typeface="Fraunces"/>
              <a:buNone/>
            </a:pPr>
            <a:r>
              <a:rPr b="0" i="0" lang="en-US" sz="2650" u="none" cap="none" strike="noStrik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Important Consideration</a:t>
            </a:r>
            <a:endParaRPr b="0" i="0" sz="2650" u="none" cap="none" strike="noStrike"/>
          </a:p>
        </p:txBody>
      </p:sp>
      <p:sp>
        <p:nvSpPr>
          <p:cNvPr id="276" name="Google Shape;276;p22"/>
          <p:cNvSpPr/>
          <p:nvPr/>
        </p:nvSpPr>
        <p:spPr>
          <a:xfrm>
            <a:off x="793790" y="5709404"/>
            <a:ext cx="13042821" cy="1326713"/>
          </a:xfrm>
          <a:prstGeom prst="roundRect">
            <a:avLst>
              <a:gd fmla="val 7181" name="adj"/>
            </a:avLst>
          </a:prstGeom>
          <a:solidFill>
            <a:srgbClr val="181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7" name="Google Shape;2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04" y="6038255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2"/>
          <p:cNvSpPr/>
          <p:nvPr/>
        </p:nvSpPr>
        <p:spPr>
          <a:xfrm>
            <a:off x="1530906" y="5992892"/>
            <a:ext cx="1207889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Epilogue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Epilogue"/>
                <a:ea typeface="Epilogue"/>
                <a:cs typeface="Epilogue"/>
                <a:sym typeface="Epilogue"/>
              </a:rPr>
              <a:t>Frames from the </a:t>
            </a:r>
            <a:r>
              <a:rPr b="1" i="0" lang="en-US" sz="1750" u="none" cap="none" strike="noStrike">
                <a:solidFill>
                  <a:srgbClr val="FFFFFF"/>
                </a:solidFill>
                <a:latin typeface="Epilogue"/>
                <a:ea typeface="Epilogue"/>
                <a:cs typeface="Epilogue"/>
                <a:sym typeface="Epilogue"/>
              </a:rPr>
              <a:t>same scene remain in the same split</a:t>
            </a:r>
            <a:r>
              <a:rPr b="0" i="0" lang="en-US" sz="1750" u="none" cap="none" strike="noStrike">
                <a:solidFill>
                  <a:srgbClr val="FFFFFF"/>
                </a:solidFill>
                <a:latin typeface="Epilogue"/>
                <a:ea typeface="Epilogue"/>
                <a:cs typeface="Epilogue"/>
                <a:sym typeface="Epilogue"/>
              </a:rPr>
              <a:t> to prevent data leakage and ensure realistic evaluation of model performance.</a:t>
            </a:r>
            <a:endParaRPr b="0" i="0" sz="1750" u="none" cap="none" strike="noStrike"/>
          </a:p>
        </p:txBody>
      </p:sp>
      <p:sp>
        <p:nvSpPr>
          <p:cNvPr id="279" name="Google Shape;279;p22"/>
          <p:cNvSpPr txBox="1"/>
          <p:nvPr/>
        </p:nvSpPr>
        <p:spPr>
          <a:xfrm>
            <a:off x="12705150" y="7617075"/>
            <a:ext cx="1803600" cy="61260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